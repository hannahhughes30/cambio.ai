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Design and Evaluation of</a:t>
            </a:r>
            <a:br/>
            <a:r>
              <a:t>AI Agents for Cambio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Calibri"/>
              </a:defRPr>
            </a:pPr>
            <a:r>
              <a:t>Belief-State Tracking, Expected Value Reasoning, and Opponent Modeling</a:t>
            </a:r>
            <a:br/>
            <a:r>
              <a:t>in a Partially Observable Card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Nas Ahmed  ·  Hannah Hughes  ·  Juan E. Cisneros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California Polytechnic State University, San Luis Obispo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How far can classical probabilistic reasoning go</a:t>
            </a:r>
            <a:br/>
            <a:r>
              <a:t>in imperfect-information games?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Most cards are face-down → agents can't see the full game state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Stochastic card draws → can't plan perfectly even with perfect memory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Multi-agent competition → each player's strategy affects everyone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Memory-based gameplay → must track every observation across turns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Strategic timing → calling Cambio too early or too late is costly</a:t>
            </a:r>
          </a:p>
          <a:p>
            <a:pPr>
              <a:spcAft>
                <a:spcPts val="400"/>
              </a:spcAft>
              <a:defRPr sz="1400" b="1">
                <a:solidFill>
                  <a:srgbClr val="00D2FF"/>
                </a:solidFill>
                <a:latin typeface="Calibri"/>
              </a:defRPr>
            </a:pPr>
            <a:r>
              <a:t>We started with RL and MCTS in mind. We didn't need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Cambio?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840480" cy="329184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CORE RULES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2-6 players, 54-card deck (52 + 2 Jokers)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Each player starts with 4 face-down cards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Peek at your bottom 2 cards at start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Goal: minimize total hand value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Each turn: draw from deck or discard,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then swap into hand OR discard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Discard pile draw → must swap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Call 'Cambio' → everyone gets 1 last turn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Caller bonus: -10 if lowest, +10 if not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4114800" cy="15544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POWER CARDS (triggered on discard)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7/8 → Peek at one of YOUR cards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9/10 → Peek at an OPPONENT's card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J/Q → Blind swap any two cards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Black King → Peek ANY card + optional swap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08960"/>
            <a:ext cx="4114800" cy="15544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SPECIAL VALUES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Red King (Hearts/Diamonds) = -1 point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Joker = 0 points  ·  Ace = 1 point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J/Q/Black King = 10 points each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Number cards = face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Sticking Mechanic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After ANY turn, all players can attempt to stick cards matching the discard 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840480" cy="13716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✓ SUCCESSFUL STICK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Card rank matches discard top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Card is removed from hand permanently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Hand shrinks → lower final score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Huge advantage if used well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011680"/>
            <a:ext cx="4114800" cy="13716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✗ FAILED STICK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Card rank does NOT match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Penalty: draw a random card from deck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Hand GROWS → higher final score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High risk if guessing on unknown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Key insight: Base agents never stick. Smart sticks known matches only.</a:t>
            </a:r>
            <a:br/>
            <a:r>
              <a:t>Card-counting agents add probabilistic sticking, ending rounds with 3.1 cards on average vs 4.0.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Formal Problem: A POMDP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Cambio is a Partially Observable Markov Decision Process (S, A, T, R, Ω, 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651760" cy="13716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State Space 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Full deck ordering, all hands,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discard pile, turn — mostly HIDDEN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011680"/>
            <a:ext cx="2651760" cy="13716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Action Space A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Draw, swap, discard, use power,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stick, call Cambio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651760" cy="13716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Observations Ω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Initial peek, ability reveals,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discard pile, opponent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54! possible deck orderings. Exact POMDP solving is intractable.</a:t>
            </a:r>
            <a:br/>
            <a:r>
              <a:t>Our approach: deterministic tracking of all observed cards + expected value over the rest.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6080" y="1280160"/>
            <a:ext cx="3291840" cy="10972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GAME ENGINE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Rules, deck/discard, power execution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Cambio bonus/penalty, information hiding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743200"/>
            <a:ext cx="2743200" cy="146304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AI AGENTS (agents/)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Base → Smart → V1 → V2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Shared interface: choose_draw,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choose_action, call_cambio, etc.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V2: 9 features + 2 tuned presets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43200"/>
            <a:ext cx="2743200" cy="146304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DDA0FF"/>
                </a:solidFill>
                <a:latin typeface="Calibri"/>
              </a:defRPr>
            </a:pPr>
            <a:r>
              <a:t>WEB INTERFACE (web/)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Flask + SocketIO real-time UI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Human-vs-AI play via browser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Event log, card animations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Same info constraints as bots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743200"/>
            <a:ext cx="2926080" cy="146304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TOURNAMENT SYSTEM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Multi-round matches, first to 100 loses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21 matchup configs × 100-200 matches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Ablation study + grid search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Randomized seating, per-round stats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645920" y="2377440"/>
            <a:ext cx="1463040" cy="365760"/>
          </a:xfrm>
          <a:prstGeom prst="line">
            <a:avLst/>
          </a:prstGeom>
          <a:ln w="25400">
            <a:solidFill>
              <a:srgbClr val="4ECB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6035040" y="2377440"/>
            <a:ext cx="1463039" cy="365760"/>
          </a:xfrm>
          <a:prstGeom prst="line">
            <a:avLst/>
          </a:prstGeom>
          <a:ln w="25400">
            <a:solidFill>
              <a:srgbClr val="D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2377440"/>
            <a:ext cx="0" cy="365760"/>
          </a:xfrm>
          <a:prstGeom prst="line">
            <a:avLst/>
          </a:prstGeom>
          <a:ln w="2540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Agent 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Calibri"/>
              </a:defRPr>
            </a:pPr>
            <a:r>
              <a:t>Each agent builds on the previous — from simple heuristics to belief-state reasoning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37360"/>
            <a:ext cx="2011680" cy="22860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8888AA"/>
                </a:solidFill>
                <a:latin typeface="Calibri"/>
              </a:defRPr>
            </a:pPr>
            <a:r>
              <a:t>Base Agent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Heuristic draw/swap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Uses all powers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Never calls Cambio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Never sticks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888AA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3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1737360"/>
            <a:ext cx="2011680" cy="22860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AA33"/>
                </a:solidFill>
                <a:latin typeface="Calibri"/>
              </a:defRPr>
            </a:pPr>
            <a:r>
              <a:t>Smart Agent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Threshold-based draw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Known-card swaps only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Estimated Cambio timing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Sticks known matches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A33"/>
                </a:solidFill>
                <a:latin typeface="Calibri"/>
              </a:defRPr>
            </a:pPr>
            <a:r>
              <a:t>HEURISTIC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8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737360"/>
            <a:ext cx="2011680" cy="22860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Bayesian V1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Tracks all 54 cards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EV-based decisions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Adaptive Cambio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Known-card sticking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2FF"/>
                </a:solidFill>
                <a:latin typeface="Calibri"/>
              </a:defRPr>
            </a:pPr>
            <a:r>
              <a:t>CARD COUNTING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A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7999" y="1737360"/>
            <a:ext cx="2011680" cy="22860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Bayesian V2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+ Opponent modeling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+ Disruption swaps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+ Probabilistic sticking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+ Final-round mode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+ Deck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7999" y="4069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ECB71"/>
                </a:solidFill>
                <a:latin typeface="Calibri"/>
              </a:defRPr>
            </a:pPr>
            <a:r>
              <a:t>OPPONENT AWARE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Smart Agent — Rule-Based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10972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DRAW DECISION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Discard pile value &lt; 4 → take from discard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Otherwise → draw from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4114800" cy="10972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SWAP DECISION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Compare drawn card to KNOWN positions only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Swap into highest-value known position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Cannot reason about unknown positions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3931920" cy="146304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CAMBIO TIMING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Estimates own score: known cards + 5/unknown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Estimates opponent: known cards + 6/unknown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Calls when: score &lt; 10 AND margin &gt; 4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Also calls if all cards known AND total &lt;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651760"/>
            <a:ext cx="4114800" cy="146304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KEY WEAKNESS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No estimate for unknown positions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Uses fixed average (5) for unknowns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Sometimes passes up beneficial swaps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May call Cambio hiding a 10-point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Wins 63% vs Base (meaningful), but gets crushed by card-counting agents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Bayesian V1 — Tracking All 54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Core idea: maintain a CardTracker that knows WHERE every observed card 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560320" cy="18288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ACCOUNTED CARDS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Discard pile (synced each turn)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Own hand (known positions)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Opponent hands (from peeks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and observed discard draws)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All tracked as (rank, suit) tuples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920240"/>
            <a:ext cx="2560320" cy="18288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UNACCOUNTED POOL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U = full 54-card deck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− discard pile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− known own cards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− known opponent cards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Any unknown position's EV =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mean value of 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920240"/>
            <a:ext cx="2743200" cy="18288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DDA0FF"/>
                </a:solidFill>
                <a:latin typeface="Calibri"/>
              </a:defRPr>
            </a:pPr>
            <a:r>
              <a:t>THE KEY FORMULA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E[unknown] = (1/|U|) Σ value(c)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           for all c ∈ U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As the game progresses,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|U| shrinks → estimates get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MORE precise over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V1 also adds: EV-based swap targeting (swap into highest-EV position),</a:t>
            </a:r>
            <a:br/>
            <a:r>
              <a:t>information bonus (+1 for placing known-low card into unknown slot),</a:t>
            </a:r>
            <a:br/>
            <a:r>
              <a:t>adaptive Cambio timing (threshold 10, EV dominance margin 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V1 — Decision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12801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DRAW DECISION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Take from discard only when: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• Card is Joker (0) or Red King (-1), OR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• Improvement ≥ 1 over worst expected position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Threshold of 1 accounts for lost deck-draw optionality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4114800" cy="12801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SWAP DECISION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For each position, compute: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improvement = E[position] − drawn_value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+ info_bonus (1 if drawn ≤ 3 into unknown)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Swap into position with max improvement (if &gt; 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3931920" cy="12801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DDA0FF"/>
                </a:solidFill>
                <a:latin typeface="Calibri"/>
              </a:defRPr>
            </a:pPr>
            <a:r>
              <a:t>PEEK TARGETING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7/8: peek first unknown own position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9/10: peek lowest-EV opponent (most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threatening), random unknown position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Black King: peek opponent, swap only if better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834640"/>
            <a:ext cx="4114800" cy="12801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CAMBIO TIMING (two paths)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Path A — High confidence: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Know ≥ 3 of 4 cards, score &lt; 10, margin &gt; 4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Path B — EV dominance: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Expected score ≥ 8 pts below ALL opponents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Bayesian V2 — Nine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8229600" cy="10515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1. Opponent Self-Knowledge Tracking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Track which hand positions each opponent likely knows about.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After deal: everyone knows positions 0,1. Draw+swap → gain knowledge.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Blind/king swap → lose knowledge.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8229600" cy="10515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2. Disruption-Weighted Swap Scoring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score(p) = -value(p) + disruption_bonus(p)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Bonus up to 3 (scaled to 1 in 1v1) when opponent knows position p.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Targets exact set of positions opponent tracks, forcing information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03320"/>
            <a:ext cx="8229600" cy="10515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3. Third-Party Swaps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When own hand is strong (worst ≤ 5) AND we're winning, use J/Q to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swap TWO OPPONENTS' known-low positions. Only disrupts when ahead;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skips sabotage when behind to focus on self-improvement.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V2 Improvements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8229600" cy="10515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DDA0FF"/>
                </a:solidFill>
                <a:latin typeface="Calibri"/>
              </a:defRPr>
            </a:pPr>
            <a:r>
              <a:t>4. Probabilistic Stick Play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V1 only sticks known matches. V2 sticks UNKNOWN positions when: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EV(stick) = P(match) × card_value − (1−P(match)) × E[penalty] &gt; 2.0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P(match) = count of matching rank in unaccounted pool / |U|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8229600" cy="10515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5. Improved Cambio Timing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Aggressive threshold: 6 (vs V1's 8) when all cards known.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Cambio margin: 3 (vs V1's 4). Knowledge gap: 2 (vs V1's 1).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Preemptive calling tested but DISABLED — ablation showed it hurts.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03320"/>
            <a:ext cx="8229600" cy="10515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6. Smarter Peek Targeting (9/10)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Target lowest-EV opponent (most dangerous), then peek UNMANAGED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unknown positions first (not in opponent's self-knowledge set).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Unmanaged positions more likely hold high-value unswapped cards.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V2 Advanced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8229600" cy="10515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7. Final-Round Mode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When someone calls Cambio, V2 shifts to end-game strategy: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Take ANY discard improvement (threshold 0 instead of 1)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Suppress probabilistic sticks (penalty card = direct score hit)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More aggressive swaps into unknown positions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8229600" cy="10515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8. Opponent Action Inference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Track opponent behavior to refine EV estimates: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Opponent discards without swapping → all their cards ≤ discard value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Opponent peeks own card (7/8) and keeps → that position is likely low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Uses Bayesian priors to lower opponent score estimates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03320"/>
            <a:ext cx="8229600" cy="105156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9. Deck Size Awareness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Monitor len(deck) to adjust strategy in late-game: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Deck ≤ 5 cards → prefer known discard over risky deck draw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Nearly empty deck + ahead of all opponents → call Cambio early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(reshuffle increases variance; lock in the lead)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18288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TOURNAMENT SYSTEM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17 matchup configurations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100 multi-round matches each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First to 100 cumulative points loses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Randomized seating order each round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~5-9 rounds per match on average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Configs span: 1v1, 3-player, 6-player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4114800" cy="18288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METRICS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Match Win Rate — fraction of matches won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Per-Round Avg Score — consistency measure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Per-Round Avg Hand Size — sticking success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Cambio Caller Win Rate — timing accuracy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Discard Draw Rate — draw strategy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Swap Rate — swap aggressiveness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Key matchups:</a:t>
            </a:r>
            <a:br/>
            <a:r>
              <a:t>  • BayesV2 vs Smart (1v1) — primary evaluation</a:t>
            </a:r>
            <a:br/>
            <a:r>
              <a:t>  • 2×Smart + BayesV2 (3p) — multiplayer scaling</a:t>
            </a:r>
            <a:br/>
            <a:r>
              <a:t>  • 5×Smart + BayesV2 (6p) — large table scaling</a:t>
            </a:r>
            <a:br/>
            <a:r>
              <a:t>  • BayesV2 vs BayesV1 (1v1) — measures V2 improvement</a:t>
            </a:r>
            <a:br/>
            <a:r>
              <a:t>  • Smart vs Base (1v1 control) — validates Smart plays meaningfully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Card-Counting vs Heuristic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1v1 WIN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3-PLAYER WIN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4-PLAYER WIN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CB71"/>
                </a:solidFill>
                <a:latin typeface="Calibri"/>
              </a:defRPr>
            </a:pPr>
            <a:r>
              <a:t>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V2 vs V1 (1v1)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888AA"/>
                </a:solidFill>
                <a:latin typeface="Calibri"/>
              </a:defRPr>
            </a:pPr>
            <a:r>
              <a:t>52%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V2 vs OLD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BayesV2 with optimized presets (duel/multi) — 200 matches per config, mixed opponents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200"/>
            <a:ext cx="8229600" cy="20116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MATCH WIN RATES (200 matches, optimized presets)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1v1:  V2-Duel  92% vs Smart 8%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3p:   V2-Multi 50% vs V1 37%, Smart 12%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4p:   V2-Multi 42% vs V1 36%, Smart 23%, Base 0%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Control: Smart 90% vs Base 10% — card tracking is the core structural advantage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Fair-game baselines: 50% (1v1), 33% (3p), 25% (4p)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V1 vs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CB71"/>
                </a:solidFill>
                <a:latin typeface="Calibri"/>
              </a:defRPr>
            </a:pPr>
            <a:r>
              <a:t>56%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V2-DUEL (1v1)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ECB71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V2-MULTI (3p)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V2-MULTI (4p)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888AA"/>
                </a:solidFill>
                <a:latin typeface="Calibri"/>
              </a:defRPr>
            </a:pPr>
            <a:r>
              <a:t>52%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874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V2 vs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3931920" cy="20116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V2-DUEL vs V1 (1v1)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56% win rate (V2-Duel) vs 44% (V1)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52% win rate vs V2-Default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Advanced features + tuned parameters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give consistent edge even against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another card-counting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468880"/>
            <a:ext cx="4114800" cy="20116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V2-MULTI IN MULTIPLAYER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3p: V2-Multi 50% vs V1 37%, Smart 12%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4p: V2-Multi 32% vs V2-Def 24%,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  V1 26%, Smart 18%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Wrong preset hurts: duel in 3p → 35%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vs multi in 3p → 56%. Adaptation to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table size is a real advantage.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Per-Round Gameplay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BayesV2 vs Smart (1v1) — 729 rounds across 100 matches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931920" cy="256032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WHERE V2 WINS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Avg cards at round end: 3.1 vs 4.0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→ V2 sticks probabilistically; Smart only known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Cambio call rate: 84% vs 10%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→ V2 controls when rounds end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Cambio caller win rate: 74% vs 53%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→ V2's timing is more accurate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Score per round: 5.3 vs 14.7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→ ~10 point advantage EVERY round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4114800" cy="256032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WHERE THEY'RE SIMILAR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Discard draw rate: 29% vs 31%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Swap rate: 35% vs 36%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Power usage: 3.6 vs 3.4 per round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The advantage isn't from acting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MORE — it's from acting SMARTER.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Same number of draws and swaps,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but V2 targets the RIGHT positions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and knows WHEN to call Cambio.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Human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Each team member played 25 games against BayesV2 via the web interface (75 total)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HANNAH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52%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6B"/>
                </a:solidFill>
                <a:latin typeface="Calibri"/>
              </a:defRPr>
            </a:pPr>
            <a:r>
              <a:t>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JUAN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888AA"/>
                </a:solidFill>
                <a:latin typeface="Calibri"/>
              </a:defRPr>
            </a:pPr>
            <a:r>
              <a:t>7.7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Calibri"/>
              </a:defRPr>
            </a:pPr>
            <a:r>
              <a:t>AGENT AVG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3931920" cy="146304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8888AA"/>
                </a:solidFill>
                <a:latin typeface="Calibri"/>
              </a:defRPr>
            </a:pPr>
            <a:r>
              <a:t>NOT STATISTICALLY SIGNIFICANT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n=25 per player is too small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Binomial test: all p &gt; 0.05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Would need ~200+ games each for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significance at this effect size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Treated as qualitative observation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108960"/>
            <a:ext cx="4114800" cy="146304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QUALITATIVE OBSERVATIONS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Agent's superpower: perfect memory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→ never forgets a peeked card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Human's superpower: intuition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→ better timing, aggressive play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Result: roughly even → human-level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Web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Flask + SocketIO real-time multiplayer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931920" cy="22860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FEATURES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Lobby system with game creation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Real-time card animations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Clickable action buttons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(Draw from Deck / Take Discard / Cambio)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Full event log of all game actions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Visible discard pile + own cards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AI opponents play automatically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Same information constraints as 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920240"/>
            <a:ext cx="4114800" cy="22860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ARCHITECTURE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web/app.py — Flask + SocketIO server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web/game_manager.py — game lifecycle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web/human_agent.py — bridges browser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input to game engine's Player interface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Human turns block (async wait for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browser input); AI turns resolve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instantly and broadcast via WebSocket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[ LIVE DEMO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Ablation Study: V2 Feature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Calibri"/>
              </a:defRPr>
            </a:pPr>
            <a:r>
              <a:t>Disable each V2 feature one at a time; measure win rate vs Smart (100 matches each)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931920" cy="27432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1v1 vs Smart (baseline 90%)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Feature Off         WR   Δ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───────────      ───── ────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Disruption         80%  -10%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Prob. Stick        81%   -9%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Opp Inference      87%   -3%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Deck Awareness     86%   -4%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Final-Round        89%   -1%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Aggr. Cambio       88%   -2%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Smart Peek         88%   -2%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3rd-Party Swaps    89%   -1%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Preemptive Cmb     90%   +0%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4114800" cy="27432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3-PLAYER vs Smart (baseline 72%)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Feature Off         WR    Δ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───────────      ─────  ────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Prob. Stick        59%  -13%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Smart Peek         60%  -12%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Disruption         62%  -10%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Opp Inference      62%  -10%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Preemptive Cmb     62%  -10%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3rd-Party Swaps    62%  -10%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Final-Round        65%   -7%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Deck Awareness     65%   -7%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Aggr. Cambio       76%   +4%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Calibri"/>
              </a:defRPr>
            </a:pPr>
            <a:r>
              <a:t>Top contributors: Disruption scoring (-10%), Prob. stick (-9%/-13%), Opponent inference (-10% in 3p)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Parameter Grid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Calibri"/>
              </a:defRPr>
            </a:pPr>
            <a:r>
              <a:t>11 parameters swept independently × 3 table sizes × 100 matches — 222 runs parallelized across 8 cores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931920" cy="29260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KEY PARAMETERS EXPLAINED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disruption_bonus — bonus for swapping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positions the opponent tracks (+info loss)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cambio_threshold — max score to call Cambio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ev_dominance_margin — how far ahead before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calling Cambio on expected value alone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stick_ev_threshold — min EV to attempt a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probabilistic stick on an unknown card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good_hand_threshold — max worst-card value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to switch from self-improvement to disruption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jq_swap_improvement — min point gain to use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J/Q on a known opponent target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small_deck_threshold — deck size below which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we prefer safe discard draws over deck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4114800" cy="29260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BIGGEST IMPROVEMENTS vs DEFAULT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Parameter             1v1   4p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─────────────       ───── ─────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cambio_threshold     +12%  +14%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small_deck_thresh    +10%  +14%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disruption_bonus      +9%  +14%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stick_ev_thresh       +8%  +18%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cambio_margin         +5%   +9%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ev_dominance          +7%   +4%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jq_swap_improve       +6%  +12%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Mixed opponents: Smart + V1 + Base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Adaptive Playstyles: Duel vs Multi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Optimal parameters differ sharply by table size — so V2 adapts automatically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931920" cy="18288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00D2FF"/>
                </a:solidFill>
                <a:latin typeface="Calibri"/>
              </a:defRPr>
            </a:pPr>
            <a:r>
              <a:t>DUEL PRESET (1v1)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High disruption (4) — one opponent to target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Aggressive Cambio (threshold 9, margin 4)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Loose sticking (EV &gt; 1.5) — few penalty sources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Low swap bar (improvement ≥ 1 for J/Q)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Tight good-hand threshold (2) — disrupt early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→ 92% vs Smart,  56% vs V1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4114800" cy="18288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MULTI PRESET (3-4 player)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Near-zero disruption (0.5) — helps other opps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Conservative Cambio (threshold 8, margin 5)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Tighter sticking (EV &gt; 2.0) — more penalty risk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High swap bar (improvement ≥ 4 for J/Q)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Wide good-hand threshold (8) — self-improve first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→ 50% in 3p,  42% in 4p (vs mixed field)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8229600" cy="91440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WHY DISRUPTION FLIPS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In 1v1, swapping the opponent's known position destroys THEIR info and only helps YOU.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In 4p, the same swap helps the OTHER 2 opponents — they benefit from your opponent's confusion.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Grid search found disruption_bonus=4 in 1v1 but 0.5 in 4p: a complete reversal.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Classical probabilistic reasoning dominates heuristics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92% win rate (tuned) without any training, neural networks, or search trees. Just tracking + expected value + grid 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B7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Optimal strategy depends sharply on table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Disruption bonus flips from 4 (1v1) to 0.5 (4p). Using the wrong preset costs ~20pp. The agent must adapt.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6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Parameter tuning unlocks massive gains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11-parameter grid search improved 1v1 from 82% → 92% (+10pp). Defaults left significant performance on the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DA0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Sticking is the single biggest structural advantage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AA"/>
                </a:solidFill>
                <a:latin typeface="Calibri"/>
              </a:defRPr>
            </a:pPr>
            <a:r>
              <a:t>Agents that stick end with 3.1 cards vs 4.0 — a ~25% reduction in hand size and final score.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29260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F6B6B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No individual opponent modeling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(assumes all opponents play similarly)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Inference priors are coarse-grained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(upper bounds, not per-card posteriors)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J/Q can't swap same-player positions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Human evaluation too small for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statistical significance (n=25)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Grid search is one-at-a-time (not joint)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4114800" cy="2926080"/>
          </a:xfrm>
          <a:prstGeom prst="roundRect">
            <a:avLst/>
          </a:prstGeom>
          <a:solidFill>
            <a:srgbClr val="2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ECB71"/>
                </a:solidFill>
                <a:latin typeface="Calibri"/>
              </a:defRPr>
            </a:pPr>
            <a:r>
              <a:t>FUTURE WORK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Reinforcement learning agents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Can RL discover non-obvious strategies?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Per-opponent behavior models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Adapt swap targeting to individual styles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Larger human studies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100+ games/player, naive participants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• Joint parameter optimization (Bayesian opt)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Current search is univariate; interactions</a:t>
            </a:r>
          </a:p>
          <a:p>
            <a:pPr>
              <a:spcAft>
                <a:spcPts val="200"/>
              </a:spcAft>
              <a:defRPr sz="1000">
                <a:solidFill>
                  <a:srgbClr val="CCCCCC"/>
                </a:solidFill>
                <a:latin typeface="Calibri"/>
              </a:defRPr>
            </a:pPr>
            <a:r>
              <a:t>  between parameters remain unexplored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complete game engine faithfully implementing all Cambio rules and powers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4 progressively sophisticated AI agents (Base → Smart → V1 → V2)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CardTracker that monitors all 54 cards across every game event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9-feature V2 with adaptive duel/multi presets tuned via grid search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11-parameter grid search (222 configs × 100 matches, parallelized)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tournament system running 21 configurations × 100-200 matches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A real-time web interface for human-vs-AI play</a:t>
            </a:r>
          </a:p>
          <a:p>
            <a:pPr>
              <a:spcAft>
                <a:spcPts val="400"/>
              </a:spcAft>
              <a:defRPr sz="1400" b="0">
                <a:solidFill>
                  <a:srgbClr val="CCCCCC"/>
                </a:solidFill>
                <a:latin typeface="Calibri"/>
              </a:defRPr>
            </a:pPr>
            <a:r>
              <a:t>92% 1v1 win rate — from 82% default to 92% after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2FF"/>
                </a:solidFill>
                <a:latin typeface="Calibri"/>
              </a:defRPr>
            </a:pPr>
            <a:r>
              <a:t>Classical AI techniques — no training data, no neural networks —</a:t>
            </a:r>
            <a:br/>
            <a:r>
              <a:t>can achieve human-level play in imperfect-information card games.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8288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N. Bard et al., "The Hanabi Challenge," Artificial Intelligence, vol. 280, 2020.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C. Browne et al., "A Survey of MCTS Methods," IEEE Trans. CI &amp; AI in Games, 2012.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R. Sutton and A. Barto, Reinforcement Learning: An Introduction, 2nd ed., MIT Press, 2018.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A. Raffin et al., "Stable-Baselines3," JMLR, vol. 22, no. 268, 2021.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M. Ginsberg, "GIB: Expert-Level Bridge," IJCAI, 1999.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N. Brown and T. Sandholm, "Superhuman AI for Multiplayer Poker," Science, 2019.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M. Moravčík et al., "DeepStack," Science, 2017.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M. Zinkevich et al., "Regret Minimization in Games," NeurIPS, 2007.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L. Kaelbling et al., "Planning and Acting in POMDPs," AI, vol. 101, 1998.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Cambio Card Game Rules, cambiocardgame.com.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A. Wu, "How to Play Cambio," wikiHow, Sept. 2025.</a:t>
            </a:r>
          </a:p>
          <a:p>
            <a:pPr>
              <a:spcAft>
                <a:spcPts val="400"/>
              </a:spcAft>
              <a:defRPr sz="1000" b="0">
                <a:solidFill>
                  <a:srgbClr val="8888AA"/>
                </a:solidFill>
                <a:latin typeface="Calibri"/>
              </a:defRPr>
            </a:pPr>
            <a:r>
              <a:t>Nyhead, "CambioMinimax,"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